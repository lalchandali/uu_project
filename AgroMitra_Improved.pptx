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Price</c:v>
                </c:pt>
              </c:strCache>
            </c:strRef>
          </c:tx>
          <c:spPr>
            <a:solidFill>
              <a:srgbClr val="2C5F2E"/>
            </a:solidFill>
            <a:ln w="31750" cap="flat">
              <a:solidFill>
                <a:srgbClr val="2C5F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5F2E"/>
              </a:solidFill>
              <a:ln w="9525" cap="flat">
                <a:solidFill>
                  <a:srgbClr val="2C5F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Week 1</c:v>
                  </c:pt>
                  <c:pt idx="1">
                    <c:v>Week 2</c:v>
                  </c:pt>
                  <c:pt idx="2">
                    <c:v>Week 3</c:v>
                  </c:pt>
                  <c:pt idx="3">
                    <c:v>Week 4</c:v>
                  </c:pt>
                  <c:pt idx="4">
                    <c:v>Week 5</c:v>
                  </c:pt>
                  <c:pt idx="5">
                    <c:v>Week 6</c:v>
                  </c:pt>
                  <c:pt idx="6">
                    <c:v>Week 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</c:v>
                </c:pt>
                <c:pt idx="1">
                  <c:v>42</c:v>
                </c:pt>
                <c:pt idx="2">
                  <c:v>40</c:v>
                </c:pt>
                <c:pt idx="3">
                  <c:v>45</c:v>
                </c:pt>
                <c:pt idx="4">
                  <c:v>43</c:v>
                </c:pt>
                <c:pt idx="5">
                  <c:v>48</c:v>
                </c:pt>
                <c:pt idx="6">
                  <c:v>47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 Forecast</c:v>
                </c:pt>
              </c:strCache>
            </c:strRef>
          </c:tx>
          <c:spPr>
            <a:solidFill>
              <a:srgbClr val="F4C430"/>
            </a:solidFill>
            <a:ln w="31750" cap="flat">
              <a:solidFill>
                <a:srgbClr val="F4C43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4C430"/>
              </a:solidFill>
              <a:ln w="9525" cap="flat">
                <a:solidFill>
                  <a:srgbClr val="F4C43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Week 1</c:v>
                  </c:pt>
                  <c:pt idx="1">
                    <c:v>Week 2</c:v>
                  </c:pt>
                  <c:pt idx="2">
                    <c:v>Week 3</c:v>
                  </c:pt>
                  <c:pt idx="3">
                    <c:v>Week 4</c:v>
                  </c:pt>
                  <c:pt idx="4">
                    <c:v>Week 5</c:v>
                  </c:pt>
                  <c:pt idx="5">
                    <c:v>Week 6</c:v>
                  </c:pt>
                  <c:pt idx="6">
                    <c:v>Week 7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39</c:v>
                </c:pt>
                <c:pt idx="1">
                  <c:v>41</c:v>
                </c:pt>
                <c:pt idx="2">
                  <c:v>41</c:v>
                </c:pt>
                <c:pt idx="3">
                  <c:v>44</c:v>
                </c:pt>
                <c:pt idx="4">
                  <c:v>44</c:v>
                </c:pt>
                <c:pt idx="5">
                  <c:v>47</c:v>
                </c:pt>
                <c:pt idx="6">
                  <c:v>50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Demand</c:v>
                </c:pt>
              </c:strCache>
            </c:strRef>
          </c:tx>
          <c:spPr>
            <a:solidFill>
              <a:srgbClr val="2C5F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Dhaka</c:v>
                  </c:pt>
                  <c:pt idx="1">
                    <c:v>Chittagong</c:v>
                  </c:pt>
                  <c:pt idx="2">
                    <c:v>Sylhet</c:v>
                  </c:pt>
                  <c:pt idx="3">
                    <c:v>Rajshahi</c:v>
                  </c:pt>
                  <c:pt idx="4">
                    <c:v>Khulna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74</c:v>
                </c:pt>
                <c:pt idx="2">
                  <c:v>58</c:v>
                </c:pt>
                <c:pt idx="3">
                  <c:v>43</c:v>
                </c:pt>
                <c:pt idx="4">
                  <c:v>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3520"/>
          </a:solidFill>
          <a:ln w="12700">
            <a:solidFill>
              <a:srgbClr val="1A352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64008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20116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AgroMitra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274320" y="30175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Smart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Marketplace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206240" y="640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206240" y="10515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I — Proposal Presentation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206240" y="1783080"/>
            <a:ext cx="4389120" cy="3657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1031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2011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663440" y="22677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816352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63440" y="27249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663440" y="29809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2025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529584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63440" y="34381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663440" y="369417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May 2026  |  CSE Department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206240" y="4114800"/>
            <a:ext cx="4663440" cy="822960"/>
          </a:xfrm>
          <a:prstGeom prst="rect">
            <a:avLst/>
          </a:prstGeom>
          <a:solidFill>
            <a:srgbClr val="1A3520"/>
          </a:solidFill>
          <a:ln w="12700">
            <a:solidFill>
              <a:srgbClr val="1A352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297680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297680" y="44348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 ·  Member 2  ·  Member 3  ·  Member 4  ·  Member 5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[Supervisor Name]  |  Dept. of CSE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4688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45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Agenda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1430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143000"/>
            <a:ext cx="502920" cy="77724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1430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11978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5270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Bangladesh's farmers need a digital solution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00600" y="11430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1143000"/>
            <a:ext cx="502920" cy="777240"/>
          </a:xfrm>
          <a:prstGeom prst="rect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11430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394960" y="11978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394960" y="15270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AgroMitra — direct marketplace &amp; AI features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20574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057400"/>
            <a:ext cx="502920" cy="77724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20574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60120" y="21122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60120" y="24414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panel, consumer panel, AI modules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00600" y="20574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800600" y="2057400"/>
            <a:ext cx="502920" cy="777240"/>
          </a:xfrm>
          <a:prstGeom prst="rect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00600" y="20574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394960" y="21122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Technology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394960" y="24414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LSTM, demand forecasting, chatbot, tech stack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65760" y="29718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65760" y="2971800"/>
            <a:ext cx="502920" cy="77724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29718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60120" y="30266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960120" y="3355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platform is built and connected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800600" y="29718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800600" y="2971800"/>
            <a:ext cx="502920" cy="777240"/>
          </a:xfrm>
          <a:prstGeom prst="rect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00600" y="29718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394960" y="30266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Timeline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394960" y="3355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responsibilities &amp; 4-month roadmap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365760" y="38862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65760" y="3886200"/>
            <a:ext cx="502920" cy="77724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65760" y="38862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960120" y="39410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 &amp; SDGs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960120" y="42702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 aligned with UN goals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800600" y="38862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4800600" y="3886200"/>
            <a:ext cx="502920" cy="777240"/>
          </a:xfrm>
          <a:prstGeom prst="rect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800600" y="38862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5394960" y="39410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Conclusion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5394960" y="42702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costs and next steps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AgroMitra  |  CSE Final Year Project  |  2024–2025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3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C18"/>
          </a:solidFill>
          <a:ln w="12700">
            <a:solidFill>
              <a:srgbClr val="162C1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4688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45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We're Solving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20040" y="1097280"/>
            <a:ext cx="2651760" cy="2926080"/>
          </a:xfrm>
          <a:prstGeom prst="rect">
            <a:avLst/>
          </a:prstGeom>
          <a:solidFill>
            <a:srgbClr val="1E3F20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97280"/>
            <a:ext cx="265176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325880" y="1188720"/>
            <a:ext cx="640080" cy="640080"/>
          </a:xfrm>
          <a:prstGeom prst="ellipse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3444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Middlemen Dominance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84632" y="242316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Middlemen capture 60–70% of profits from the supply chain, leaving farmers with minimal income despite their labour.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200400" y="1097280"/>
            <a:ext cx="2651760" cy="2926080"/>
          </a:xfrm>
          <a:prstGeom prst="rect">
            <a:avLst/>
          </a:prstGeom>
          <a:solidFill>
            <a:srgbClr val="1E3F20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00400" y="1097280"/>
            <a:ext cx="265176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206240" y="1188720"/>
            <a:ext cx="640080" cy="640080"/>
          </a:xfrm>
          <a:prstGeom prst="ellipse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23444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3756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Market Visibility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364992" y="242316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lack real-time pricing data, demand forecasts, or digital tools to plan harvests or reach fair markets.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080760" y="1097280"/>
            <a:ext cx="2651760" cy="2926080"/>
          </a:xfrm>
          <a:prstGeom prst="rect">
            <a:avLst/>
          </a:prstGeom>
          <a:solidFill>
            <a:srgbClr val="1E3F20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080760" y="1097280"/>
            <a:ext cx="265176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086600" y="1188720"/>
            <a:ext cx="640080" cy="640080"/>
          </a:xfrm>
          <a:prstGeom prst="ellipse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23444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1792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Urban-Rural Divide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245352" y="242316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in cities pay 2–3× inflated prices for the same produce, highlighting a deep supply chain disconnect.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0" y="4114800"/>
            <a:ext cx="9144000" cy="822960"/>
          </a:xfrm>
          <a:prstGeom prst="rect">
            <a:avLst/>
          </a:prstGeom>
          <a:solidFill>
            <a:srgbClr val="0E2210"/>
          </a:solidFill>
          <a:ln w="12700">
            <a:solidFill>
              <a:srgbClr val="0E2210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57200" y="41605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 Bangladesh's workforce in agriculture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3474720" y="41605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16M+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farming households affected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6492240" y="41605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income lost to middlemen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4688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45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 — AgroMitra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AI-powered digital bridge between farmers and consumers — eliminating middlemen, ensuring fair pricing.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20040" y="16002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2103120"/>
            <a:ext cx="457200" cy="457200"/>
          </a:xfrm>
          <a:prstGeom prst="ellipse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2148840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Panel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005840" y="207568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listing, AI fair price suggestions, earnings dashboard, Bengali voice input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172968" y="16002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310128" y="2103120"/>
            <a:ext cx="457200" cy="457200"/>
          </a:xfrm>
          <a:prstGeom prst="ellipse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2148840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58768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Panel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858768" y="207568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direct from farms, location-based search, order tracking, farmer reviews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025896" y="16002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163056" y="2103120"/>
            <a:ext cx="457200" cy="457200"/>
          </a:xfrm>
          <a:prstGeom prst="ellipse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2148840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11696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Prediction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711696" y="207568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time-series model forecasts weekly crop prices with 85%+ accuracy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320040" y="32004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57200" y="3703320"/>
            <a:ext cx="457200" cy="457200"/>
          </a:xfrm>
          <a:prstGeom prst="ellipse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749040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0584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Dashboard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1005840" y="367588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price trends, supply vs demand charts, district crop availability map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3172968" y="32004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3310128" y="3703320"/>
            <a:ext cx="457200" cy="457200"/>
          </a:xfrm>
          <a:prstGeom prst="ellipse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560" y="3749040"/>
            <a:ext cx="402336" cy="40233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858768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Chatbot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3858768" y="367588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API-powered 24/7 assistant answers farmers' queries in Bangla &amp; English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6025896" y="32004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163056" y="3703320"/>
            <a:ext cx="457200" cy="457200"/>
          </a:xfrm>
          <a:prstGeom prst="ellipse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0488" y="3749040"/>
            <a:ext cx="402336" cy="40233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711696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Pay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6711696" y="367588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nearby transport, bKash/Nagad payment integration via SSLCommerz</a:t>
            </a:r>
            <a:endParaRPr lang="en-US" sz="1050" dirty="0"/>
          </a:p>
        </p:txBody>
      </p:sp>
      <p:sp>
        <p:nvSpPr>
          <p:cNvPr id="36" name="Text 27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AgroMitra  |  CSE Final Year Project  |  2024–2025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3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4688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45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Core Features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20040" y="1097280"/>
            <a:ext cx="4206240" cy="1783080"/>
          </a:xfrm>
          <a:prstGeom prst="rect">
            <a:avLst/>
          </a:prstGeom>
          <a:solidFill>
            <a:srgbClr val="2A6E2C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84632" y="1691640"/>
            <a:ext cx="594360" cy="594360"/>
          </a:xfrm>
          <a:prstGeom prst="ellipse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737360"/>
            <a:ext cx="521208" cy="5212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20700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Prediction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34440" y="1600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Time Series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201168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5 years of BD market data. Predicts next 7-day crop prices with 85%+ accuracy. Helps farmers time their sales for maximum profit.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754880" y="1097280"/>
            <a:ext cx="4206240" cy="1783080"/>
          </a:xfrm>
          <a:prstGeom prst="rect">
            <a:avLst/>
          </a:prstGeom>
          <a:solidFill>
            <a:srgbClr val="1E5C20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919472" y="1691640"/>
            <a:ext cx="594360" cy="594360"/>
          </a:xfrm>
          <a:prstGeom prst="ellipse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1737360"/>
            <a:ext cx="521208" cy="5212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69280" y="120700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Forecasting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669280" y="1600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892040" y="201168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regional demand per crop type weekly. Farmers can plan harvest quantities, reducing food waste and oversupply losses.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20040" y="3017520"/>
            <a:ext cx="4206240" cy="1783080"/>
          </a:xfrm>
          <a:prstGeom prst="rect">
            <a:avLst/>
          </a:prstGeom>
          <a:solidFill>
            <a:srgbClr val="2A6E2C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84632" y="3611880"/>
            <a:ext cx="594360" cy="594360"/>
          </a:xfrm>
          <a:prstGeom prst="ellipse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3657600"/>
            <a:ext cx="521208" cy="5212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34440" y="312724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Recommendation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234440" y="3520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+ ML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57200" y="393192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high-profit crops based on season, location, soil type, and current market trends. Maximizes farmer income.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754880" y="3017520"/>
            <a:ext cx="4206240" cy="1783080"/>
          </a:xfrm>
          <a:prstGeom prst="rect">
            <a:avLst/>
          </a:prstGeom>
          <a:solidFill>
            <a:srgbClr val="1E5C20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919472" y="3611880"/>
            <a:ext cx="594360" cy="594360"/>
          </a:xfrm>
          <a:prstGeom prst="ellipse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657600"/>
            <a:ext cx="521208" cy="5212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669280" y="312724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Bengali AI Chatbot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5669280" y="3520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892040" y="393192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Bengali and English language assistant. Answers farmer queries, guides product listing, explains pricing insights.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AgroMitra  |  CSE Final Year Project  |  2024–2025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4688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45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20040" y="1078992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78992"/>
            <a:ext cx="502920" cy="82296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261872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11247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914400" y="13990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 +  Tailwind CSS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914400" y="164592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&amp; mobile UI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0" y="1078992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54880" y="1078992"/>
            <a:ext cx="502920" cy="82296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26187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49240" y="11247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5349240" y="13990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+  Express.js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5349240" y="164592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&amp; server logic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20040" y="2029968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20040" y="2029968"/>
            <a:ext cx="502920" cy="822960"/>
          </a:xfrm>
          <a:prstGeom prst="rect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2212848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" y="20756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914400" y="23500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+  Flask  +  TensorFlow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914400" y="2596896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models &amp; ML services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754880" y="2029968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754880" y="2029968"/>
            <a:ext cx="502920" cy="822960"/>
          </a:xfrm>
          <a:prstGeom prst="rect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2212848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49240" y="20756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5349240" y="23500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 (Anthropic)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349240" y="2596896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language AI assistant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20040" y="2980944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20040" y="2980944"/>
            <a:ext cx="502920" cy="82296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" y="3163824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4400" y="302666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914400" y="330098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+  MongoDB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914400" y="3547872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+ document storage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4754880" y="2980944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4754880" y="2980944"/>
            <a:ext cx="502920" cy="82296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2" y="3163824"/>
            <a:ext cx="365760" cy="36576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349240" y="302666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5349240" y="330098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250" dirty="0"/>
          </a:p>
        </p:txBody>
      </p:sp>
      <p:sp>
        <p:nvSpPr>
          <p:cNvPr id="40" name="Text 31"/>
          <p:cNvSpPr/>
          <p:nvPr/>
        </p:nvSpPr>
        <p:spPr>
          <a:xfrm>
            <a:off x="5349240" y="3547872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farmer search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320040" y="393192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320040" y="3931920"/>
            <a:ext cx="502920" cy="822960"/>
          </a:xfrm>
          <a:prstGeom prst="rect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192" y="4114800"/>
            <a:ext cx="365760" cy="36576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14400" y="3977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914400" y="42519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SSLCommerz  /  bKash  /  Nagad</a:t>
            </a:r>
            <a:endParaRPr lang="en-US" sz="1250" dirty="0"/>
          </a:p>
        </p:txBody>
      </p:sp>
      <p:sp>
        <p:nvSpPr>
          <p:cNvPr id="46" name="Text 36"/>
          <p:cNvSpPr/>
          <p:nvPr/>
        </p:nvSpPr>
        <p:spPr>
          <a:xfrm>
            <a:off x="914400" y="449884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local payment gateway</a:t>
            </a:r>
            <a:endParaRPr lang="en-US" sz="1000" dirty="0"/>
          </a:p>
        </p:txBody>
      </p:sp>
      <p:sp>
        <p:nvSpPr>
          <p:cNvPr id="47" name="Shape 37"/>
          <p:cNvSpPr/>
          <p:nvPr/>
        </p:nvSpPr>
        <p:spPr>
          <a:xfrm>
            <a:off x="4754880" y="393192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38"/>
          <p:cNvSpPr/>
          <p:nvPr/>
        </p:nvSpPr>
        <p:spPr>
          <a:xfrm>
            <a:off x="4754880" y="3931920"/>
            <a:ext cx="502920" cy="822960"/>
          </a:xfrm>
          <a:prstGeom prst="rect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8032" y="4114800"/>
            <a:ext cx="365760" cy="365760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5349240" y="3977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000" dirty="0"/>
          </a:p>
        </p:txBody>
      </p:sp>
      <p:sp>
        <p:nvSpPr>
          <p:cNvPr id="51" name="Text 40"/>
          <p:cNvSpPr/>
          <p:nvPr/>
        </p:nvSpPr>
        <p:spPr>
          <a:xfrm>
            <a:off x="5349240" y="42519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 +  Render  (Free Tier)</a:t>
            </a:r>
            <a:endParaRPr lang="en-US" sz="1250" dirty="0"/>
          </a:p>
        </p:txBody>
      </p:sp>
      <p:sp>
        <p:nvSpPr>
          <p:cNvPr id="52" name="Text 41"/>
          <p:cNvSpPr/>
          <p:nvPr/>
        </p:nvSpPr>
        <p:spPr>
          <a:xfrm>
            <a:off x="5349240" y="449884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backend deployment</a:t>
            </a:r>
            <a:endParaRPr lang="en-US" sz="1000" dirty="0"/>
          </a:p>
        </p:txBody>
      </p:sp>
      <p:sp>
        <p:nvSpPr>
          <p:cNvPr id="53" name="Text 42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AgroMitra  |  CSE Final Year Project  |  2024–2025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3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C18"/>
          </a:solidFill>
          <a:ln w="12700">
            <a:solidFill>
              <a:srgbClr val="162C1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4688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45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20040" y="1097280"/>
            <a:ext cx="2651760" cy="3474720"/>
          </a:xfrm>
          <a:prstGeom prst="rect">
            <a:avLst/>
          </a:prstGeom>
          <a:solidFill>
            <a:srgbClr val="1F4A22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97280"/>
            <a:ext cx="2651760" cy="59436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1155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14173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828800"/>
            <a:ext cx="109728" cy="10972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Web App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2340864"/>
            <a:ext cx="109728" cy="10972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229514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Portal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2852928"/>
            <a:ext cx="109728" cy="10972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28072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Portal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2920" y="3364992"/>
            <a:ext cx="109728" cy="10972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33192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2920" y="3877056"/>
            <a:ext cx="109728" cy="10972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383133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172968" y="1097280"/>
            <a:ext cx="2651760" cy="3474720"/>
          </a:xfrm>
          <a:prstGeom prst="rect">
            <a:avLst/>
          </a:prstGeom>
          <a:solidFill>
            <a:srgbClr val="174019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172968" y="1097280"/>
            <a:ext cx="2651760" cy="59436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64408" y="11155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264408" y="14173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355848" y="1828800"/>
            <a:ext cx="109728" cy="10972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538728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API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355848" y="2340864"/>
            <a:ext cx="109728" cy="10972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538728" y="229514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3355848" y="2852928"/>
            <a:ext cx="109728" cy="10972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538728" y="28072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3355848" y="3364992"/>
            <a:ext cx="109728" cy="10972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538728" y="33192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3355848" y="3877056"/>
            <a:ext cx="109728" cy="10972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38728" y="383133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025896" y="1097280"/>
            <a:ext cx="2651760" cy="3474720"/>
          </a:xfrm>
          <a:prstGeom prst="rect">
            <a:avLst/>
          </a:prstGeom>
          <a:solidFill>
            <a:srgbClr val="112F13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025896" y="1097280"/>
            <a:ext cx="2651760" cy="59436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17336" y="11155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AI Layer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117336" y="14173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208776" y="1828800"/>
            <a:ext cx="109728" cy="10972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91656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MongoDB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6208776" y="2340864"/>
            <a:ext cx="109728" cy="10972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391656" y="229514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 AI Service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208776" y="2852928"/>
            <a:ext cx="109728" cy="10972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391656" y="28072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Price Model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6208776" y="3364992"/>
            <a:ext cx="109728" cy="10972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391656" y="33192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Chatbot API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208776" y="3877056"/>
            <a:ext cx="109728" cy="109728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391656" y="383133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2971800" y="2834640"/>
            <a:ext cx="201168" cy="0"/>
          </a:xfrm>
          <a:prstGeom prst="line">
            <a:avLst/>
          </a:prstGeom>
          <a:noFill/>
          <a:ln w="31750">
            <a:solidFill>
              <a:srgbClr val="F4C43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24728" y="2834640"/>
            <a:ext cx="201168" cy="0"/>
          </a:xfrm>
          <a:prstGeom prst="line">
            <a:avLst/>
          </a:prstGeom>
          <a:noFill/>
          <a:ln w="31750">
            <a:solidFill>
              <a:srgbClr val="F4C43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971800" y="26517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5824728" y="26517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400" dirty="0"/>
          </a:p>
        </p:txBody>
      </p:sp>
      <p:sp>
        <p:nvSpPr>
          <p:cNvPr id="51" name="Text 48"/>
          <p:cNvSpPr/>
          <p:nvPr/>
        </p:nvSpPr>
        <p:spPr>
          <a:xfrm>
            <a:off x="274320" y="464515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Client-Server Architecture  ·  REST API Communication  ·  Microservice AI Layer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AgroMitra  |  CSE Final Year Project  |  2024–2025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4688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45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Responsibilities &amp; Timeline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65760" y="10515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65760" y="146304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463040"/>
            <a:ext cx="64008" cy="566928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1208" y="1499616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21208" y="171907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783080" y="1536192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— Farmer panel, Consumer panel, Market dashboard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65760" y="213055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130552"/>
            <a:ext cx="64008" cy="566928"/>
          </a:xfrm>
          <a:prstGeom prst="rect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1208" y="2167128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21208" y="238658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783080" y="2203704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API, JWT Auth, Order management, REST routes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65760" y="2798064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" y="2798064"/>
            <a:ext cx="64008" cy="566928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1208" y="283464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21208" y="305409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Engineer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783080" y="2871216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price model, Crop recommender, Claude chatbot API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65760" y="3465576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65760" y="3465576"/>
            <a:ext cx="64008" cy="566928"/>
          </a:xfrm>
          <a:prstGeom prst="rect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1208" y="350215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21208" y="372160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DevOps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783080" y="353872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schema, Maps API, Payment gateway, Deployment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65760" y="4133088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65760" y="4133088"/>
            <a:ext cx="64008" cy="566928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21208" y="4169664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5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21208" y="43891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Documentation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783080" y="420624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Project report, Presentation, Data collection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754880" y="10515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4-Month Development Timeline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754880" y="146304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754880" y="1463040"/>
            <a:ext cx="1005840" cy="749808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54880" y="149961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754880" y="188366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852160" y="155448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analysis · UI/UX wireframes · DB schema · Backend setup · Authentication system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754880" y="2350008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754880" y="2350008"/>
            <a:ext cx="1005840" cy="749808"/>
          </a:xfrm>
          <a:prstGeom prst="rect">
            <a:avLst/>
          </a:prstGeom>
          <a:solidFill>
            <a:srgbClr val="1F6B22"/>
          </a:solidFill>
          <a:ln w="12700">
            <a:solidFill>
              <a:srgbClr val="1F6B2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54880" y="238658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4754880" y="27706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852160" y="244144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&amp; Consumer panels · Product listing · Order system · Market dashboard · Basic API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4754880" y="3236976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4754880" y="3236976"/>
            <a:ext cx="1005840" cy="749808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754880" y="327355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4754880" y="36576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5852160" y="3328416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training · Price prediction · Bengali chatbot · Payment gateway · Maps integration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4754880" y="4123944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4754880" y="4123944"/>
            <a:ext cx="1005840" cy="749808"/>
          </a:xfrm>
          <a:prstGeom prst="rect">
            <a:avLst/>
          </a:prstGeom>
          <a:solidFill>
            <a:srgbClr val="1F6B22"/>
          </a:solidFill>
          <a:ln w="12700">
            <a:solidFill>
              <a:srgbClr val="1F6B22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754880" y="41605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4754880" y="45445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5852160" y="421538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testing · Bug fixing · Performance optimization · Deployment · Final report &amp; presentation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Date: 15 May 2026  |  11:00 AM – 1:00 PM  |  CSE Department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4688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45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Data &amp; AI Forecast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65760" y="1051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Price Prediction — Tomato (BDT/kg)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417320"/>
          <a:ext cx="47548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539496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Demand Index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5394960" y="1417320"/>
          <a:ext cx="34747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 4"/>
          <p:cNvSpPr/>
          <p:nvPr/>
        </p:nvSpPr>
        <p:spPr>
          <a:xfrm>
            <a:off x="365760" y="4160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powered by AI models trained on historical BD market data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AgroMitra  |  CSE Final Year Project  |  2024–2025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3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4688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45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Impact &amp; SDG Alignment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2606040" cy="1280160"/>
          </a:xfrm>
          <a:prstGeom prst="rect">
            <a:avLst/>
          </a:prstGeom>
          <a:solidFill>
            <a:srgbClr val="1A3520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65760" y="10789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16M+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65760" y="17373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Farming Households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205740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impacted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18688" y="1051560"/>
            <a:ext cx="2606040" cy="1280160"/>
          </a:xfrm>
          <a:prstGeom prst="rect">
            <a:avLst/>
          </a:prstGeom>
          <a:solidFill>
            <a:srgbClr val="1A3520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18688" y="10789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3218688" y="17373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Gain Potential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18688" y="205740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middlemen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71616" y="1051560"/>
            <a:ext cx="2606040" cy="1280160"/>
          </a:xfrm>
          <a:prstGeom prst="rect">
            <a:avLst/>
          </a:prstGeom>
          <a:solidFill>
            <a:srgbClr val="1A3520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71616" y="10789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6071616" y="17373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Reduction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71616" y="205740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demand planning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" y="2560320"/>
            <a:ext cx="4206240" cy="658368"/>
          </a:xfrm>
          <a:prstGeom prst="rect">
            <a:avLst/>
          </a:prstGeom>
          <a:solidFill>
            <a:srgbClr val="1A3520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5488" y="2660904"/>
            <a:ext cx="457200" cy="457200"/>
          </a:xfrm>
          <a:prstGeom prst="ellipse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2706624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51560" y="265176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farmer income by enabling direct fair-priced sales to consumers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800600" y="2560320"/>
            <a:ext cx="4206240" cy="658368"/>
          </a:xfrm>
          <a:prstGeom prst="rect">
            <a:avLst/>
          </a:prstGeom>
          <a:solidFill>
            <a:srgbClr val="1A3520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910328" y="2660904"/>
            <a:ext cx="457200" cy="457200"/>
          </a:xfrm>
          <a:prstGeom prst="ellipse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2706624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486400" y="265176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consumer costs by cutting out the middlemen from the supply chain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365760" y="3337560"/>
            <a:ext cx="4206240" cy="658368"/>
          </a:xfrm>
          <a:prstGeom prst="rect">
            <a:avLst/>
          </a:prstGeom>
          <a:solidFill>
            <a:srgbClr val="1A3520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75488" y="3438144"/>
            <a:ext cx="457200" cy="457200"/>
          </a:xfrm>
          <a:prstGeom prst="ellipse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3483864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51560" y="342900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food waste through AI-powered demand forecasting and harvest planning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4800600" y="3337560"/>
            <a:ext cx="4206240" cy="658368"/>
          </a:xfrm>
          <a:prstGeom prst="rect">
            <a:avLst/>
          </a:prstGeom>
          <a:solidFill>
            <a:srgbClr val="1A3520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910328" y="3438144"/>
            <a:ext cx="457200" cy="457200"/>
          </a:xfrm>
          <a:prstGeom prst="ellipse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04" y="3483864"/>
            <a:ext cx="384048" cy="38404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486400" y="342900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Empowers low-literacy farmers with bilingual Bengali/English voice interface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A1F0B"/>
          </a:solidFill>
          <a:ln w="12700">
            <a:solidFill>
              <a:srgbClr val="0A1F0B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SDG 1 — No Poverty      🌾  SDG 2 — Zero Hunger      💼  SDG 8 — Decent Work &amp; Economic Growth      🤝  SDG 10 — Reduced Inequalities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A1E"/>
          </a:solidFill>
          <a:ln w="12700">
            <a:solidFill>
              <a:srgbClr val="1C3A1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4688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45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&amp; Expected Outcomes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65760" y="10515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Budget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65760" y="1463040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Hosting (Vercel)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514600" y="1508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474720" y="1508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1984248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0299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Hosting (Render)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514600" y="20299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474720" y="20299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2505456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55117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(Anthropic)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2514600" y="255117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~$5–10/mo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474720" y="255117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usage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65760" y="3026664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07238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2514600" y="307238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3474720" y="307238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 credit/mo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65760" y="3547872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35935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Name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2514600" y="35935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~$10/yr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3474720" y="35935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65760" y="4069080"/>
            <a:ext cx="4023360" cy="457200"/>
          </a:xfrm>
          <a:prstGeom prst="rect">
            <a:avLst/>
          </a:prstGeom>
          <a:solidFill>
            <a:srgbClr val="2C5F2E"/>
          </a:solidFill>
          <a:ln w="12700">
            <a:solidFill>
              <a:srgbClr val="D4E8B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2514600" y="4114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~$15–20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3474720" y="4114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~1,700–2,200 BDT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754880" y="10515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754880" y="146304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828032" y="1636776"/>
            <a:ext cx="237744" cy="237744"/>
          </a:xfrm>
          <a:prstGeom prst="ellipse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55064"/>
            <a:ext cx="201168" cy="201168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5166360" y="155448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AI-powered agricultural marketplace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4754880" y="2130552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4828032" y="2304288"/>
            <a:ext cx="237744" cy="237744"/>
          </a:xfrm>
          <a:prstGeom prst="ellipse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22576"/>
            <a:ext cx="201168" cy="20116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166360" y="2221992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prediction model with 85%+ accuracy on test data</a:t>
            </a:r>
            <a:endParaRPr lang="en-US" sz="1150" dirty="0"/>
          </a:p>
        </p:txBody>
      </p:sp>
      <p:sp>
        <p:nvSpPr>
          <p:cNvPr id="39" name="Shape 34"/>
          <p:cNvSpPr/>
          <p:nvPr/>
        </p:nvSpPr>
        <p:spPr>
          <a:xfrm>
            <a:off x="4754880" y="2798064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4828032" y="2971800"/>
            <a:ext cx="237744" cy="237744"/>
          </a:xfrm>
          <a:prstGeom prst="ellipse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990088"/>
            <a:ext cx="201168" cy="201168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5166360" y="2889504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Bengali/English chatbot for farmer support</a:t>
            </a:r>
            <a:endParaRPr lang="en-US" sz="1150" dirty="0"/>
          </a:p>
        </p:txBody>
      </p:sp>
      <p:sp>
        <p:nvSpPr>
          <p:cNvPr id="43" name="Shape 37"/>
          <p:cNvSpPr/>
          <p:nvPr/>
        </p:nvSpPr>
        <p:spPr>
          <a:xfrm>
            <a:off x="4754880" y="3465576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4828032" y="3639312"/>
            <a:ext cx="237744" cy="237744"/>
          </a:xfrm>
          <a:prstGeom prst="ellipse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657600"/>
            <a:ext cx="201168" cy="201168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5166360" y="3557016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fair-pricing advantage over middlemen</a:t>
            </a:r>
            <a:endParaRPr lang="en-US" sz="1150" dirty="0"/>
          </a:p>
        </p:txBody>
      </p:sp>
      <p:sp>
        <p:nvSpPr>
          <p:cNvPr id="47" name="Shape 40"/>
          <p:cNvSpPr/>
          <p:nvPr/>
        </p:nvSpPr>
        <p:spPr>
          <a:xfrm>
            <a:off x="4754880" y="4133088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1"/>
          <p:cNvSpPr/>
          <p:nvPr/>
        </p:nvSpPr>
        <p:spPr>
          <a:xfrm>
            <a:off x="4828032" y="4306824"/>
            <a:ext cx="237744" cy="237744"/>
          </a:xfrm>
          <a:prstGeom prst="ellipse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325112"/>
            <a:ext cx="201168" cy="201168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5166360" y="422452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project report + live system demo</a:t>
            </a:r>
            <a:endParaRPr lang="en-US" sz="1150" dirty="0"/>
          </a:p>
        </p:txBody>
      </p:sp>
      <p:sp>
        <p:nvSpPr>
          <p:cNvPr id="51" name="Text 43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AgroMitra  |  CSE Final Year Project  |  2024–2025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3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62C18"/>
          </a:solidFill>
          <a:ln w="12700">
            <a:solidFill>
              <a:srgbClr val="162C1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7315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22860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AgroMitra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82880" y="3063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Every Farmer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74320" y="37490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Dept: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88720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" y="40690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Session: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88720" y="4069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2025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74320" y="43891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88720" y="438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May 2026  |  11 AM – 1 PM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74320" y="470916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88720" y="4709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Department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0" y="109728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000" dirty="0"/>
          </a:p>
        </p:txBody>
      </p:sp>
      <p:sp>
        <p:nvSpPr>
          <p:cNvPr id="15" name="Shape 12"/>
          <p:cNvSpPr/>
          <p:nvPr/>
        </p:nvSpPr>
        <p:spPr>
          <a:xfrm>
            <a:off x="5029200" y="2194560"/>
            <a:ext cx="2743200" cy="4572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23360" y="23317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Answers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023360" y="30175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your questions, suggestions,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feedback on AgroMitra.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023360" y="3886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023360" y="4160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 ·  Member 2  ·  Member 3  ·  Member 4  ·  Member 5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023360" y="445312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[Supervisor Name]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A1F0B"/>
          </a:solidFill>
          <a:ln w="12700">
            <a:solidFill>
              <a:srgbClr val="0A1F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AgroMitra — AI-Powered Smart Agricultural Marketplace  |  CSE Final Year Project  |  2024–2025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AgroMitra — Final Year Project</dc:title>
  <dc:subject>PptxGenJS Presentation</dc:subject>
  <dc:creator>PptxGenJS</dc:creator>
  <cp:lastModifiedBy>PptxGenJS</cp:lastModifiedBy>
  <cp:revision>1</cp:revision>
  <dcterms:created xsi:type="dcterms:W3CDTF">2026-05-03T19:15:52Z</dcterms:created>
  <dcterms:modified xsi:type="dcterms:W3CDTF">2026-05-03T19:15:52Z</dcterms:modified>
</cp:coreProperties>
</file>